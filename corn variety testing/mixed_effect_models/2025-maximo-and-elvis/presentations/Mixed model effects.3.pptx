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8D13A4-48C0-4ACD-A481-B621F235142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C7EF359-5697-4CD3-B226-D54DC9DDD003}">
      <dgm:prSet/>
      <dgm:spPr/>
      <dgm:t>
        <a:bodyPr/>
        <a:lstStyle/>
        <a:p>
          <a:pPr>
            <a:defRPr cap="all"/>
          </a:pPr>
          <a:r>
            <a:rPr lang="en-US"/>
            <a:t>Analyze which variables are driving yields the most</a:t>
          </a:r>
        </a:p>
      </dgm:t>
    </dgm:pt>
    <dgm:pt modelId="{52EA54EB-E4FC-4D02-8F30-B0BAD3E30124}" type="parTrans" cxnId="{A148C40B-8AA0-4FB1-B56D-C3FB5D7027C1}">
      <dgm:prSet/>
      <dgm:spPr/>
      <dgm:t>
        <a:bodyPr/>
        <a:lstStyle/>
        <a:p>
          <a:endParaRPr lang="en-US"/>
        </a:p>
      </dgm:t>
    </dgm:pt>
    <dgm:pt modelId="{B617606A-A0A5-4FE7-9EB8-A7384DA8521C}" type="sibTrans" cxnId="{A148C40B-8AA0-4FB1-B56D-C3FB5D7027C1}">
      <dgm:prSet/>
      <dgm:spPr/>
      <dgm:t>
        <a:bodyPr/>
        <a:lstStyle/>
        <a:p>
          <a:endParaRPr lang="en-US"/>
        </a:p>
      </dgm:t>
    </dgm:pt>
    <dgm:pt modelId="{1ED815CB-3555-4C5F-A8F2-28A017CDC840}">
      <dgm:prSet/>
      <dgm:spPr/>
      <dgm:t>
        <a:bodyPr/>
        <a:lstStyle/>
        <a:p>
          <a:pPr>
            <a:defRPr cap="all"/>
          </a:pPr>
          <a:r>
            <a:rPr lang="en-US"/>
            <a:t>Provide accurate recommendations to farmers regarding planting date and hybrid relative maturity for each environment</a:t>
          </a:r>
        </a:p>
      </dgm:t>
    </dgm:pt>
    <dgm:pt modelId="{95F4498D-44AF-4B1E-8F8A-B4AF18F38C01}" type="parTrans" cxnId="{F661001F-60AC-4D12-909C-6E57A8465C53}">
      <dgm:prSet/>
      <dgm:spPr/>
      <dgm:t>
        <a:bodyPr/>
        <a:lstStyle/>
        <a:p>
          <a:endParaRPr lang="en-US"/>
        </a:p>
      </dgm:t>
    </dgm:pt>
    <dgm:pt modelId="{E147FDED-C10F-446F-9CCA-1B422997B090}" type="sibTrans" cxnId="{F661001F-60AC-4D12-909C-6E57A8465C53}">
      <dgm:prSet/>
      <dgm:spPr/>
      <dgm:t>
        <a:bodyPr/>
        <a:lstStyle/>
        <a:p>
          <a:endParaRPr lang="en-US"/>
        </a:p>
      </dgm:t>
    </dgm:pt>
    <dgm:pt modelId="{82BA0F23-ECF4-4D98-9192-2DD5CBAFD121}" type="pres">
      <dgm:prSet presAssocID="{688D13A4-48C0-4ACD-A481-B621F2351422}" presName="root" presStyleCnt="0">
        <dgm:presLayoutVars>
          <dgm:dir/>
          <dgm:resizeHandles val="exact"/>
        </dgm:presLayoutVars>
      </dgm:prSet>
      <dgm:spPr/>
    </dgm:pt>
    <dgm:pt modelId="{2E551E02-2794-4930-9EA8-B5861700361E}" type="pres">
      <dgm:prSet presAssocID="{8C7EF359-5697-4CD3-B226-D54DC9DDD003}" presName="compNode" presStyleCnt="0"/>
      <dgm:spPr/>
    </dgm:pt>
    <dgm:pt modelId="{5FB7AFAE-3C7F-4A4B-9E56-41AE0800C3C0}" type="pres">
      <dgm:prSet presAssocID="{8C7EF359-5697-4CD3-B226-D54DC9DDD003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8107ED2-088C-49B1-958A-0C2F13B5ACDD}" type="pres">
      <dgm:prSet presAssocID="{8C7EF359-5697-4CD3-B226-D54DC9DDD00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A35C895-906E-4757-B4CE-0256081961E4}" type="pres">
      <dgm:prSet presAssocID="{8C7EF359-5697-4CD3-B226-D54DC9DDD003}" presName="spaceRect" presStyleCnt="0"/>
      <dgm:spPr/>
    </dgm:pt>
    <dgm:pt modelId="{2324D202-97BB-49FD-A2E6-8EE4CAB47851}" type="pres">
      <dgm:prSet presAssocID="{8C7EF359-5697-4CD3-B226-D54DC9DDD003}" presName="textRect" presStyleLbl="revTx" presStyleIdx="0" presStyleCnt="2">
        <dgm:presLayoutVars>
          <dgm:chMax val="1"/>
          <dgm:chPref val="1"/>
        </dgm:presLayoutVars>
      </dgm:prSet>
      <dgm:spPr/>
    </dgm:pt>
    <dgm:pt modelId="{2501B42B-F209-48E0-83E9-8269DE21E291}" type="pres">
      <dgm:prSet presAssocID="{B617606A-A0A5-4FE7-9EB8-A7384DA8521C}" presName="sibTrans" presStyleCnt="0"/>
      <dgm:spPr/>
    </dgm:pt>
    <dgm:pt modelId="{2DD26FF8-731B-46F9-B042-36E29187A22F}" type="pres">
      <dgm:prSet presAssocID="{1ED815CB-3555-4C5F-A8F2-28A017CDC840}" presName="compNode" presStyleCnt="0"/>
      <dgm:spPr/>
    </dgm:pt>
    <dgm:pt modelId="{4CB65A6A-8350-43F9-9D0E-886F353CFA6F}" type="pres">
      <dgm:prSet presAssocID="{1ED815CB-3555-4C5F-A8F2-28A017CDC840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A067E59-88F9-408F-A115-C5F73834054E}" type="pres">
      <dgm:prSet presAssocID="{1ED815CB-3555-4C5F-A8F2-28A017CDC84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6E54A26B-0EDF-419E-A826-287332C1D7F6}" type="pres">
      <dgm:prSet presAssocID="{1ED815CB-3555-4C5F-A8F2-28A017CDC840}" presName="spaceRect" presStyleCnt="0"/>
      <dgm:spPr/>
    </dgm:pt>
    <dgm:pt modelId="{7F1CE350-80D8-4411-A381-B16759837BAE}" type="pres">
      <dgm:prSet presAssocID="{1ED815CB-3555-4C5F-A8F2-28A017CDC84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148C40B-8AA0-4FB1-B56D-C3FB5D7027C1}" srcId="{688D13A4-48C0-4ACD-A481-B621F2351422}" destId="{8C7EF359-5697-4CD3-B226-D54DC9DDD003}" srcOrd="0" destOrd="0" parTransId="{52EA54EB-E4FC-4D02-8F30-B0BAD3E30124}" sibTransId="{B617606A-A0A5-4FE7-9EB8-A7384DA8521C}"/>
    <dgm:cxn modelId="{F661001F-60AC-4D12-909C-6E57A8465C53}" srcId="{688D13A4-48C0-4ACD-A481-B621F2351422}" destId="{1ED815CB-3555-4C5F-A8F2-28A017CDC840}" srcOrd="1" destOrd="0" parTransId="{95F4498D-44AF-4B1E-8F8A-B4AF18F38C01}" sibTransId="{E147FDED-C10F-446F-9CCA-1B422997B090}"/>
    <dgm:cxn modelId="{72EFAF53-FF0A-4FCC-B0CB-8607A4D15FC1}" type="presOf" srcId="{1ED815CB-3555-4C5F-A8F2-28A017CDC840}" destId="{7F1CE350-80D8-4411-A381-B16759837BAE}" srcOrd="0" destOrd="0" presId="urn:microsoft.com/office/officeart/2018/5/layout/IconLeafLabelList"/>
    <dgm:cxn modelId="{03E08357-9B4A-4A54-8FA7-42130CBD3579}" type="presOf" srcId="{688D13A4-48C0-4ACD-A481-B621F2351422}" destId="{82BA0F23-ECF4-4D98-9192-2DD5CBAFD121}" srcOrd="0" destOrd="0" presId="urn:microsoft.com/office/officeart/2018/5/layout/IconLeafLabelList"/>
    <dgm:cxn modelId="{8E21F2A2-D186-4722-A5A4-5B2009447B57}" type="presOf" srcId="{8C7EF359-5697-4CD3-B226-D54DC9DDD003}" destId="{2324D202-97BB-49FD-A2E6-8EE4CAB47851}" srcOrd="0" destOrd="0" presId="urn:microsoft.com/office/officeart/2018/5/layout/IconLeafLabelList"/>
    <dgm:cxn modelId="{85BDAA8F-C148-41D9-AC05-0562F5647120}" type="presParOf" srcId="{82BA0F23-ECF4-4D98-9192-2DD5CBAFD121}" destId="{2E551E02-2794-4930-9EA8-B5861700361E}" srcOrd="0" destOrd="0" presId="urn:microsoft.com/office/officeart/2018/5/layout/IconLeafLabelList"/>
    <dgm:cxn modelId="{DB285B17-A45D-4220-9206-E0B989C26844}" type="presParOf" srcId="{2E551E02-2794-4930-9EA8-B5861700361E}" destId="{5FB7AFAE-3C7F-4A4B-9E56-41AE0800C3C0}" srcOrd="0" destOrd="0" presId="urn:microsoft.com/office/officeart/2018/5/layout/IconLeafLabelList"/>
    <dgm:cxn modelId="{9A279F34-0C7D-4F35-85B7-C9309582CA9F}" type="presParOf" srcId="{2E551E02-2794-4930-9EA8-B5861700361E}" destId="{28107ED2-088C-49B1-958A-0C2F13B5ACDD}" srcOrd="1" destOrd="0" presId="urn:microsoft.com/office/officeart/2018/5/layout/IconLeafLabelList"/>
    <dgm:cxn modelId="{3879BA98-82C6-4EC6-8137-B007683B6BC2}" type="presParOf" srcId="{2E551E02-2794-4930-9EA8-B5861700361E}" destId="{6A35C895-906E-4757-B4CE-0256081961E4}" srcOrd="2" destOrd="0" presId="urn:microsoft.com/office/officeart/2018/5/layout/IconLeafLabelList"/>
    <dgm:cxn modelId="{C4E3B8E6-8B24-412D-98C4-6EE603F56D92}" type="presParOf" srcId="{2E551E02-2794-4930-9EA8-B5861700361E}" destId="{2324D202-97BB-49FD-A2E6-8EE4CAB47851}" srcOrd="3" destOrd="0" presId="urn:microsoft.com/office/officeart/2018/5/layout/IconLeafLabelList"/>
    <dgm:cxn modelId="{59C0E592-BC94-44A5-9F86-07D52FBDDABA}" type="presParOf" srcId="{82BA0F23-ECF4-4D98-9192-2DD5CBAFD121}" destId="{2501B42B-F209-48E0-83E9-8269DE21E291}" srcOrd="1" destOrd="0" presId="urn:microsoft.com/office/officeart/2018/5/layout/IconLeafLabelList"/>
    <dgm:cxn modelId="{914DF13A-F870-4E64-B58F-65EC2A1A2A01}" type="presParOf" srcId="{82BA0F23-ECF4-4D98-9192-2DD5CBAFD121}" destId="{2DD26FF8-731B-46F9-B042-36E29187A22F}" srcOrd="2" destOrd="0" presId="urn:microsoft.com/office/officeart/2018/5/layout/IconLeafLabelList"/>
    <dgm:cxn modelId="{AD87149F-5B09-4FCD-95F8-B69A2801901E}" type="presParOf" srcId="{2DD26FF8-731B-46F9-B042-36E29187A22F}" destId="{4CB65A6A-8350-43F9-9D0E-886F353CFA6F}" srcOrd="0" destOrd="0" presId="urn:microsoft.com/office/officeart/2018/5/layout/IconLeafLabelList"/>
    <dgm:cxn modelId="{49E7C855-9212-4DBD-8E19-27C84006CA6D}" type="presParOf" srcId="{2DD26FF8-731B-46F9-B042-36E29187A22F}" destId="{2A067E59-88F9-408F-A115-C5F73834054E}" srcOrd="1" destOrd="0" presId="urn:microsoft.com/office/officeart/2018/5/layout/IconLeafLabelList"/>
    <dgm:cxn modelId="{2D8C7152-E894-40CE-84D5-0E3BC4846761}" type="presParOf" srcId="{2DD26FF8-731B-46F9-B042-36E29187A22F}" destId="{6E54A26B-0EDF-419E-A826-287332C1D7F6}" srcOrd="2" destOrd="0" presId="urn:microsoft.com/office/officeart/2018/5/layout/IconLeafLabelList"/>
    <dgm:cxn modelId="{8FFD0384-C78C-4293-ADFA-DEADEFB631C4}" type="presParOf" srcId="{2DD26FF8-731B-46F9-B042-36E29187A22F}" destId="{7F1CE350-80D8-4411-A381-B16759837BA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6E4452-4E26-43AA-9FB1-AF146AECD34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2E079B5-0B13-4F29-A4CA-60FDA621C808}">
      <dgm:prSet/>
      <dgm:spPr/>
      <dgm:t>
        <a:bodyPr/>
        <a:lstStyle/>
        <a:p>
          <a:r>
            <a:rPr lang="en-US" dirty="0"/>
            <a:t>Database: sowing date, precipitation (per month and total), relative maturity, location, yield, soil textural class, row spacing</a:t>
          </a:r>
        </a:p>
      </dgm:t>
    </dgm:pt>
    <dgm:pt modelId="{D2872856-CCF3-4616-8AD4-E25FE75C9338}" type="parTrans" cxnId="{0767ED98-D4BA-46C3-8359-234722A652B8}">
      <dgm:prSet/>
      <dgm:spPr/>
      <dgm:t>
        <a:bodyPr/>
        <a:lstStyle/>
        <a:p>
          <a:endParaRPr lang="en-US"/>
        </a:p>
      </dgm:t>
    </dgm:pt>
    <dgm:pt modelId="{8B08AC08-C796-42CD-8D51-DEECE95B5B04}" type="sibTrans" cxnId="{0767ED98-D4BA-46C3-8359-234722A652B8}">
      <dgm:prSet/>
      <dgm:spPr/>
      <dgm:t>
        <a:bodyPr/>
        <a:lstStyle/>
        <a:p>
          <a:endParaRPr lang="en-US"/>
        </a:p>
      </dgm:t>
    </dgm:pt>
    <dgm:pt modelId="{C21B2591-A17D-482C-A82F-EA068E8E1A53}">
      <dgm:prSet/>
      <dgm:spPr/>
      <dgm:t>
        <a:bodyPr/>
        <a:lstStyle/>
        <a:p>
          <a:r>
            <a:rPr lang="en-US" dirty="0"/>
            <a:t>Nasa power (from planting to harvest): mean of maximum Temperature, mean of minimum Temperature, cumulative radiation, number of days temperature above 32C</a:t>
          </a:r>
        </a:p>
      </dgm:t>
    </dgm:pt>
    <dgm:pt modelId="{B67430D4-EFF8-4AA5-A98A-357A3D9A49B4}" type="parTrans" cxnId="{4E35A7ED-6F7C-46E3-B326-B970F77A40FD}">
      <dgm:prSet/>
      <dgm:spPr/>
      <dgm:t>
        <a:bodyPr/>
        <a:lstStyle/>
        <a:p>
          <a:endParaRPr lang="en-US"/>
        </a:p>
      </dgm:t>
    </dgm:pt>
    <dgm:pt modelId="{E6CBB928-83CD-494F-AE33-E67AD519E7A4}" type="sibTrans" cxnId="{4E35A7ED-6F7C-46E3-B326-B970F77A40FD}">
      <dgm:prSet/>
      <dgm:spPr/>
      <dgm:t>
        <a:bodyPr/>
        <a:lstStyle/>
        <a:p>
          <a:endParaRPr lang="en-US"/>
        </a:p>
      </dgm:t>
    </dgm:pt>
    <dgm:pt modelId="{775079E6-8603-42FA-9B83-7BB504D3D60A}" type="pres">
      <dgm:prSet presAssocID="{176E4452-4E26-43AA-9FB1-AF146AECD34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214EB3-8425-4C39-8850-CFFA2BEC6259}" type="pres">
      <dgm:prSet presAssocID="{32E079B5-0B13-4F29-A4CA-60FDA621C808}" presName="hierRoot1" presStyleCnt="0"/>
      <dgm:spPr/>
    </dgm:pt>
    <dgm:pt modelId="{7D7BD6E6-7511-46E6-BA7D-671A600EC88A}" type="pres">
      <dgm:prSet presAssocID="{32E079B5-0B13-4F29-A4CA-60FDA621C808}" presName="composite" presStyleCnt="0"/>
      <dgm:spPr/>
    </dgm:pt>
    <dgm:pt modelId="{8232CAD6-BD62-4AC3-8685-73147ABACA8B}" type="pres">
      <dgm:prSet presAssocID="{32E079B5-0B13-4F29-A4CA-60FDA621C808}" presName="background" presStyleLbl="node0" presStyleIdx="0" presStyleCnt="2"/>
      <dgm:spPr/>
    </dgm:pt>
    <dgm:pt modelId="{44D4165D-AAA7-4AD4-9F70-5BD95017FED1}" type="pres">
      <dgm:prSet presAssocID="{32E079B5-0B13-4F29-A4CA-60FDA621C808}" presName="text" presStyleLbl="fgAcc0" presStyleIdx="0" presStyleCnt="2">
        <dgm:presLayoutVars>
          <dgm:chPref val="3"/>
        </dgm:presLayoutVars>
      </dgm:prSet>
      <dgm:spPr/>
    </dgm:pt>
    <dgm:pt modelId="{C4FA2A24-1837-40D7-B785-89D39558C14A}" type="pres">
      <dgm:prSet presAssocID="{32E079B5-0B13-4F29-A4CA-60FDA621C808}" presName="hierChild2" presStyleCnt="0"/>
      <dgm:spPr/>
    </dgm:pt>
    <dgm:pt modelId="{F654DC10-B0E2-418F-85C9-B63DFBBA7B98}" type="pres">
      <dgm:prSet presAssocID="{C21B2591-A17D-482C-A82F-EA068E8E1A53}" presName="hierRoot1" presStyleCnt="0"/>
      <dgm:spPr/>
    </dgm:pt>
    <dgm:pt modelId="{F76E3A79-F470-41F2-8D7E-577799CFCCF2}" type="pres">
      <dgm:prSet presAssocID="{C21B2591-A17D-482C-A82F-EA068E8E1A53}" presName="composite" presStyleCnt="0"/>
      <dgm:spPr/>
    </dgm:pt>
    <dgm:pt modelId="{26D9298A-D224-4B28-9943-80B8AD8477E0}" type="pres">
      <dgm:prSet presAssocID="{C21B2591-A17D-482C-A82F-EA068E8E1A53}" presName="background" presStyleLbl="node0" presStyleIdx="1" presStyleCnt="2"/>
      <dgm:spPr/>
    </dgm:pt>
    <dgm:pt modelId="{648D128A-2733-40F4-8B48-0B8274CD2AE0}" type="pres">
      <dgm:prSet presAssocID="{C21B2591-A17D-482C-A82F-EA068E8E1A53}" presName="text" presStyleLbl="fgAcc0" presStyleIdx="1" presStyleCnt="2">
        <dgm:presLayoutVars>
          <dgm:chPref val="3"/>
        </dgm:presLayoutVars>
      </dgm:prSet>
      <dgm:spPr/>
    </dgm:pt>
    <dgm:pt modelId="{98F9B981-9101-4004-88DA-D6FDA32C1EDF}" type="pres">
      <dgm:prSet presAssocID="{C21B2591-A17D-482C-A82F-EA068E8E1A53}" presName="hierChild2" presStyleCnt="0"/>
      <dgm:spPr/>
    </dgm:pt>
  </dgm:ptLst>
  <dgm:cxnLst>
    <dgm:cxn modelId="{57252138-ABAD-4516-9B6D-4D791D603BEC}" type="presOf" srcId="{C21B2591-A17D-482C-A82F-EA068E8E1A53}" destId="{648D128A-2733-40F4-8B48-0B8274CD2AE0}" srcOrd="0" destOrd="0" presId="urn:microsoft.com/office/officeart/2005/8/layout/hierarchy1"/>
    <dgm:cxn modelId="{97910494-4E70-4F9A-8DA3-ADC4A6602304}" type="presOf" srcId="{176E4452-4E26-43AA-9FB1-AF146AECD345}" destId="{775079E6-8603-42FA-9B83-7BB504D3D60A}" srcOrd="0" destOrd="0" presId="urn:microsoft.com/office/officeart/2005/8/layout/hierarchy1"/>
    <dgm:cxn modelId="{0767ED98-D4BA-46C3-8359-234722A652B8}" srcId="{176E4452-4E26-43AA-9FB1-AF146AECD345}" destId="{32E079B5-0B13-4F29-A4CA-60FDA621C808}" srcOrd="0" destOrd="0" parTransId="{D2872856-CCF3-4616-8AD4-E25FE75C9338}" sibTransId="{8B08AC08-C796-42CD-8D51-DEECE95B5B04}"/>
    <dgm:cxn modelId="{9A6589B0-55EF-404A-BEBD-92CCCD8371D6}" type="presOf" srcId="{32E079B5-0B13-4F29-A4CA-60FDA621C808}" destId="{44D4165D-AAA7-4AD4-9F70-5BD95017FED1}" srcOrd="0" destOrd="0" presId="urn:microsoft.com/office/officeart/2005/8/layout/hierarchy1"/>
    <dgm:cxn modelId="{4E35A7ED-6F7C-46E3-B326-B970F77A40FD}" srcId="{176E4452-4E26-43AA-9FB1-AF146AECD345}" destId="{C21B2591-A17D-482C-A82F-EA068E8E1A53}" srcOrd="1" destOrd="0" parTransId="{B67430D4-EFF8-4AA5-A98A-357A3D9A49B4}" sibTransId="{E6CBB928-83CD-494F-AE33-E67AD519E7A4}"/>
    <dgm:cxn modelId="{F834B676-0FA1-423E-B51F-F87517A288DD}" type="presParOf" srcId="{775079E6-8603-42FA-9B83-7BB504D3D60A}" destId="{15214EB3-8425-4C39-8850-CFFA2BEC6259}" srcOrd="0" destOrd="0" presId="urn:microsoft.com/office/officeart/2005/8/layout/hierarchy1"/>
    <dgm:cxn modelId="{CEB0C557-E9EC-4128-B00D-B13B8055FD6C}" type="presParOf" srcId="{15214EB3-8425-4C39-8850-CFFA2BEC6259}" destId="{7D7BD6E6-7511-46E6-BA7D-671A600EC88A}" srcOrd="0" destOrd="0" presId="urn:microsoft.com/office/officeart/2005/8/layout/hierarchy1"/>
    <dgm:cxn modelId="{93D6B2F5-1AC5-4576-A8D7-11A1FB60A773}" type="presParOf" srcId="{7D7BD6E6-7511-46E6-BA7D-671A600EC88A}" destId="{8232CAD6-BD62-4AC3-8685-73147ABACA8B}" srcOrd="0" destOrd="0" presId="urn:microsoft.com/office/officeart/2005/8/layout/hierarchy1"/>
    <dgm:cxn modelId="{509260B3-BD44-44BA-B789-05AF4E91CAC8}" type="presParOf" srcId="{7D7BD6E6-7511-46E6-BA7D-671A600EC88A}" destId="{44D4165D-AAA7-4AD4-9F70-5BD95017FED1}" srcOrd="1" destOrd="0" presId="urn:microsoft.com/office/officeart/2005/8/layout/hierarchy1"/>
    <dgm:cxn modelId="{379DEDD4-39F2-46D5-A4F3-B704027A2410}" type="presParOf" srcId="{15214EB3-8425-4C39-8850-CFFA2BEC6259}" destId="{C4FA2A24-1837-40D7-B785-89D39558C14A}" srcOrd="1" destOrd="0" presId="urn:microsoft.com/office/officeart/2005/8/layout/hierarchy1"/>
    <dgm:cxn modelId="{DB335619-21CF-4DEF-B12D-2771876853C2}" type="presParOf" srcId="{775079E6-8603-42FA-9B83-7BB504D3D60A}" destId="{F654DC10-B0E2-418F-85C9-B63DFBBA7B98}" srcOrd="1" destOrd="0" presId="urn:microsoft.com/office/officeart/2005/8/layout/hierarchy1"/>
    <dgm:cxn modelId="{1C6180AA-F903-4E72-B1D9-AC1AC34C5FE9}" type="presParOf" srcId="{F654DC10-B0E2-418F-85C9-B63DFBBA7B98}" destId="{F76E3A79-F470-41F2-8D7E-577799CFCCF2}" srcOrd="0" destOrd="0" presId="urn:microsoft.com/office/officeart/2005/8/layout/hierarchy1"/>
    <dgm:cxn modelId="{F96EF7AF-625A-42E1-9D84-83FAEE8E5A66}" type="presParOf" srcId="{F76E3A79-F470-41F2-8D7E-577799CFCCF2}" destId="{26D9298A-D224-4B28-9943-80B8AD8477E0}" srcOrd="0" destOrd="0" presId="urn:microsoft.com/office/officeart/2005/8/layout/hierarchy1"/>
    <dgm:cxn modelId="{C695895C-6F0E-4F3A-8D48-82EE7F896715}" type="presParOf" srcId="{F76E3A79-F470-41F2-8D7E-577799CFCCF2}" destId="{648D128A-2733-40F4-8B48-0B8274CD2AE0}" srcOrd="1" destOrd="0" presId="urn:microsoft.com/office/officeart/2005/8/layout/hierarchy1"/>
    <dgm:cxn modelId="{BB70C819-B663-404F-8B85-7A20BC02C740}" type="presParOf" srcId="{F654DC10-B0E2-418F-85C9-B63DFBBA7B98}" destId="{98F9B981-9101-4004-88DA-D6FDA32C1ED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7AFAE-3C7F-4A4B-9E56-41AE0800C3C0}">
      <dsp:nvSpPr>
        <dsp:cNvPr id="0" name=""/>
        <dsp:cNvSpPr/>
      </dsp:nvSpPr>
      <dsp:spPr>
        <a:xfrm>
          <a:off x="2250914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107ED2-088C-49B1-958A-0C2F13B5ACDD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4D202-97BB-49FD-A2E6-8EE4CAB47851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Analyze which variables are driving yields the most</a:t>
          </a:r>
        </a:p>
      </dsp:txBody>
      <dsp:txXfrm>
        <a:off x="1548914" y="3176402"/>
        <a:ext cx="3600000" cy="720000"/>
      </dsp:txXfrm>
    </dsp:sp>
    <dsp:sp modelId="{4CB65A6A-8350-43F9-9D0E-886F353CFA6F}">
      <dsp:nvSpPr>
        <dsp:cNvPr id="0" name=""/>
        <dsp:cNvSpPr/>
      </dsp:nvSpPr>
      <dsp:spPr>
        <a:xfrm>
          <a:off x="6480914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67E59-88F9-408F-A115-C5F73834054E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CE350-80D8-4411-A381-B16759837BAE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Provide accurate recommendations to farmers regarding planting date and hybrid relative maturity for each environment</a:t>
          </a:r>
        </a:p>
      </dsp:txBody>
      <dsp:txXfrm>
        <a:off x="5778914" y="317640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2CAD6-BD62-4AC3-8685-73147ABACA8B}">
      <dsp:nvSpPr>
        <dsp:cNvPr id="0" name=""/>
        <dsp:cNvSpPr/>
      </dsp:nvSpPr>
      <dsp:spPr>
        <a:xfrm>
          <a:off x="1320" y="150224"/>
          <a:ext cx="4636182" cy="2943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4165D-AAA7-4AD4-9F70-5BD95017FED1}">
      <dsp:nvSpPr>
        <dsp:cNvPr id="0" name=""/>
        <dsp:cNvSpPr/>
      </dsp:nvSpPr>
      <dsp:spPr>
        <a:xfrm>
          <a:off x="516452" y="639599"/>
          <a:ext cx="4636182" cy="29439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Database: sowing date, precipitation (per month and total), relative maturity, location, yield, soil textural class, row spacing</a:t>
          </a:r>
        </a:p>
      </dsp:txBody>
      <dsp:txXfrm>
        <a:off x="602678" y="725825"/>
        <a:ext cx="4463730" cy="2771523"/>
      </dsp:txXfrm>
    </dsp:sp>
    <dsp:sp modelId="{26D9298A-D224-4B28-9943-80B8AD8477E0}">
      <dsp:nvSpPr>
        <dsp:cNvPr id="0" name=""/>
        <dsp:cNvSpPr/>
      </dsp:nvSpPr>
      <dsp:spPr>
        <a:xfrm>
          <a:off x="5667765" y="150224"/>
          <a:ext cx="4636182" cy="2943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D128A-2733-40F4-8B48-0B8274CD2AE0}">
      <dsp:nvSpPr>
        <dsp:cNvPr id="0" name=""/>
        <dsp:cNvSpPr/>
      </dsp:nvSpPr>
      <dsp:spPr>
        <a:xfrm>
          <a:off x="6182897" y="639599"/>
          <a:ext cx="4636182" cy="29439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Nasa power (from planting to harvest): mean of maximum Temperature, mean of minimum Temperature, cumulative radiation, number of days temperature above 32C</a:t>
          </a:r>
        </a:p>
      </dsp:txBody>
      <dsp:txXfrm>
        <a:off x="6269123" y="725825"/>
        <a:ext cx="4463730" cy="27715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FF3F9-00A9-9F00-A280-A61E545CC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A0425-13CF-5A4D-64DB-A64A3EBB2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11758-29AC-77FB-5D87-3540285D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F73E-6952-BFB3-92ED-DBC1C10C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70A2D-DB20-9685-1C6C-5C6AAB7B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8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598EE-DAB5-DCD4-FBA0-BC4023A45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CE710-2A27-2791-0B82-6BC1A232C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826EA-D086-BAD4-381F-82368FF3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9832A-95F2-49C3-4B81-0403C611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B7F4E-7D10-6AA4-7F92-84FEA6B5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17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A57A-3843-447C-F3A7-6825FB7F4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07C0-80A5-5AC2-DCE4-29226681D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5389C-0439-6164-7FA5-3FC10C6A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37B95-CA09-C42F-245B-4B287567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99E3D-77FF-DAAE-1C2B-B9F30D92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05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90C0-0BD4-665D-C6F3-744C5AF1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E16C7-3961-03FC-D54C-3A4FCF886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2D964-21FD-FC4D-FC21-7BF36E4FB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DF4D4-7751-1EE3-6C09-5A760E03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6C591-2E28-8B0D-8693-34D034D2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01BA0-A6CE-49D2-DF9C-2E947104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64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8E92-FF1E-A145-0681-5A6D8577D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34D65-7856-BDC4-330E-1CA610069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A757F-9036-0DE7-27AA-AEA899788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4B187E-F322-C958-9DAB-9026277BB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6DA46-B307-6623-292F-FC34B80FB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40E1D-88FF-338C-7366-F36CD21F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96069-4B46-9E42-95D8-9A768F138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773ECB-8787-174C-F430-432018680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0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56129-AC6B-14A1-C2BD-463E19CC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D6BEF-1FE0-7CB4-4B68-B4BCBA4F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82B42-1532-DC71-08A4-6A265854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EFE4D-7A52-E559-7CFD-C644A108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6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657DE-3ABF-C4DE-0500-0CC143666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D7EF4A-0D4A-8915-5461-500B717B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975B0-7B46-6440-2AA5-0412C243B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79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D225-2FB3-3AE7-2279-4EE98CD9A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BA7B7-A121-1C20-F866-7E7A2A2F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A4A21-17B8-64AC-3D65-BC0DCFBE9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A15AA-4CE7-B0CA-4005-EC9660864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45596-F913-5D94-CF79-894FC15F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114DE-5663-8D02-77C5-056BDE8A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60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4B6D-1C40-7B4F-7F06-CAED7157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A26AE5-87DD-6C74-B8BD-64F71C8D52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A997C-0AEE-FA1F-E407-874E38A0D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A847B-4926-451B-C78F-21C00F572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877A7-0C4A-CCDA-1E78-FCAC667B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D9B40-00F9-9BDE-4F82-187FEB37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0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B94C-5726-91E8-74EA-D1BE5FF2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B5FF6-2997-A94E-DAD2-88A293CFF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1EE2A-2980-2A29-5E25-C8B584DC6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83EFD-4F9F-AB4D-0F74-83A3F5AF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9650F-FFB0-7683-A696-896F8230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4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80EE13-82AB-C67D-AEC2-90BB7D2FB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B3BE9-767B-281A-B3EC-31CE019B3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4BA1B-79C4-E2F9-3A4B-50A89C4BA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394F-DEBF-5715-6732-18B4AB833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707FA-1F5F-B17A-CEDD-4986F28A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12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DBC30-BAE5-203E-0327-576F2247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0B78C-2E9D-5243-20DE-87442D592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4C970-BDCE-AA0A-7FEB-C4E9E7382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1E494-BF98-4BE0-B7C4-3F49EEAE5B1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6DC98-62CB-F7CE-D131-F635CE93A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56330-E469-CC3A-488A-F5D76955E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DF0B7E-B96D-4D38-8E0A-014121FD1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9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tiff"/><Relationship Id="rId4" Type="http://schemas.openxmlformats.org/officeDocument/2006/relationships/image" Target="../media/image17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DE273-70D7-AD5C-A9E8-520709B9F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824" y="643467"/>
            <a:ext cx="4772975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/>
              <a:t>Mixed model effects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03188-4859-3761-8E16-24A0122D0477}"/>
              </a:ext>
            </a:extLst>
          </p:cNvPr>
          <p:cNvSpPr txBox="1"/>
          <p:nvPr/>
        </p:nvSpPr>
        <p:spPr>
          <a:xfrm>
            <a:off x="1246824" y="2623381"/>
            <a:ext cx="4772974" cy="3553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Maximo Nores Allende: Master’s student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Elvis Elli: Advisor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3C7F56-D5CA-31C7-C6B0-A0C01865E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11" y="655645"/>
            <a:ext cx="3848322" cy="2520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31ECF7-F342-5191-F217-5D85E5B1E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379" y="3657600"/>
            <a:ext cx="3401985" cy="25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24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EFF4-F9CF-D085-6735-C3E79B28D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-96809"/>
            <a:ext cx="3180958" cy="1163609"/>
          </a:xfrm>
        </p:spPr>
        <p:txBody>
          <a:bodyPr anchor="b">
            <a:normAutofit/>
          </a:bodyPr>
          <a:lstStyle/>
          <a:p>
            <a:r>
              <a:rPr lang="en-US" sz="3200" dirty="0"/>
              <a:t>Corn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9C803-1FD2-3CBD-BC28-647E95127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193" y="1369866"/>
            <a:ext cx="5495532" cy="4630883"/>
          </a:xfrm>
        </p:spPr>
        <p:txBody>
          <a:bodyPr anchor="t">
            <a:normAutofit/>
          </a:bodyPr>
          <a:lstStyle/>
          <a:p>
            <a:r>
              <a:rPr lang="en-US" sz="1700" dirty="0"/>
              <a:t>14 years (2010-2023): almost 5000 datapoints</a:t>
            </a:r>
          </a:p>
          <a:p>
            <a:r>
              <a:rPr lang="en-US" sz="1700" dirty="0"/>
              <a:t>7 locations</a:t>
            </a:r>
          </a:p>
          <a:p>
            <a:r>
              <a:rPr lang="en-US" sz="1700" dirty="0"/>
              <a:t>~70 hybrids per year </a:t>
            </a:r>
          </a:p>
          <a:p>
            <a:r>
              <a:rPr lang="en-US" sz="1700" dirty="0"/>
              <a:t>Complete randomized block design (4 reps)</a:t>
            </a:r>
          </a:p>
          <a:p>
            <a:r>
              <a:rPr lang="en-US" sz="1700" dirty="0"/>
              <a:t>Relative maturity ranging from 103 to 121</a:t>
            </a:r>
          </a:p>
          <a:p>
            <a:r>
              <a:rPr lang="en-US" sz="1700" dirty="0"/>
              <a:t>One sowing date per year/location (several in total)</a:t>
            </a:r>
          </a:p>
          <a:p>
            <a:r>
              <a:rPr lang="en-US" sz="1700" dirty="0"/>
              <a:t>Management practices followed UARK recommendations (irrigation, fertilization, pest control)</a:t>
            </a:r>
          </a:p>
          <a:p>
            <a:r>
              <a:rPr lang="en-US" sz="1700" dirty="0"/>
              <a:t>Soil info: textural class 1 for each location</a:t>
            </a:r>
          </a:p>
          <a:p>
            <a:r>
              <a:rPr lang="en-US" sz="1700" dirty="0"/>
              <a:t>Weather info: Nasa power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E2BBC-38E6-38BA-0F26-03AFF1CD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177399"/>
            <a:ext cx="5319062" cy="442811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2514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38D88-114D-A901-1141-5B84B1B6C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Objectives: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98B3FF-F394-5A0A-75B7-9DF5ABA63E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9840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831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3B77A-2743-10E8-8DC0-49EE24E87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Variables: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7FB85B-F335-870B-9350-AA80AC24A2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255958"/>
              </p:ext>
            </p:extLst>
          </p:nvPr>
        </p:nvGraphicFramePr>
        <p:xfrm>
          <a:off x="685798" y="1562100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1457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FA252-F995-E901-FAF5-A1312704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716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Correlation matrix</a:t>
            </a:r>
          </a:p>
        </p:txBody>
      </p:sp>
      <p:pic>
        <p:nvPicPr>
          <p:cNvPr id="11" name="Content Placeholder 10" descr="A screenshot of a graph&#10;&#10;Description automatically generated">
            <a:extLst>
              <a:ext uri="{FF2B5EF4-FFF2-40B4-BE49-F238E27FC236}">
                <a16:creationId xmlns:a16="http://schemas.microsoft.com/office/drawing/2014/main" id="{20EB5B2C-48E2-E948-55A6-CBDE6BF98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168" y="1138398"/>
            <a:ext cx="7012582" cy="5610066"/>
          </a:xfrm>
        </p:spPr>
      </p:pic>
    </p:spTree>
    <p:extLst>
      <p:ext uri="{BB962C8B-B14F-4D97-AF65-F5344CB8AC3E}">
        <p14:creationId xmlns:p14="http://schemas.microsoft.com/office/powerpoint/2010/main" val="3943224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818BF-E69C-B22D-B4E4-027481F9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Eemeans function to better understand trends</a:t>
            </a:r>
          </a:p>
        </p:txBody>
      </p:sp>
      <p:pic>
        <p:nvPicPr>
          <p:cNvPr id="7" name="Picture 6" descr="A graph of different locations&#10;&#10;Description automatically generated with medium confidence">
            <a:extLst>
              <a:ext uri="{FF2B5EF4-FFF2-40B4-BE49-F238E27FC236}">
                <a16:creationId xmlns:a16="http://schemas.microsoft.com/office/drawing/2014/main" id="{6A7A848C-F5C4-6CD6-C7E0-89F4F7050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256086"/>
            <a:ext cx="5131088" cy="3848316"/>
          </a:xfrm>
          <a:prstGeom prst="rect">
            <a:avLst/>
          </a:prstGeom>
        </p:spPr>
      </p:pic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478FF187-2122-8FA8-79C6-E941EFEB5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3997831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9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8ED75-F006-89CD-11C3-8CC348A59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D9BF3-FC1D-5461-A0E8-7459CD3E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/>
              <a:t>Eemeans Sowing date/Location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74137-FFA4-7BA5-F583-04B5A2504545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model.a.keiser</a:t>
            </a:r>
            <a:r>
              <a:rPr lang="en-US" sz="2200" dirty="0"/>
              <a:t> &lt;- lmer(</a:t>
            </a:r>
            <a:r>
              <a:rPr lang="en-US" sz="2200" dirty="0" err="1"/>
              <a:t>Yield.bu.acre</a:t>
            </a:r>
            <a:r>
              <a:rPr lang="en-US" sz="2200" dirty="0"/>
              <a:t> ~ </a:t>
            </a:r>
            <a:r>
              <a:rPr lang="en-US" sz="2200" dirty="0" err="1"/>
              <a:t>SowingdateDOY</a:t>
            </a:r>
            <a:r>
              <a:rPr lang="en-US" sz="2200" dirty="0"/>
              <a:t> + (1 | Hybrid) + (1 | Year), data = </a:t>
            </a:r>
            <a:r>
              <a:rPr lang="en-US" sz="2200" dirty="0" err="1"/>
              <a:t>data_clean.keiser</a:t>
            </a:r>
            <a:r>
              <a:rPr lang="en-US" sz="2200" dirty="0"/>
              <a:t>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</p:txBody>
      </p:sp>
      <p:pic>
        <p:nvPicPr>
          <p:cNvPr id="16" name="Content Placeholder 15" descr="A graph of a graph with numbers and dots&#10;&#10;Description automatically generated with medium confidence">
            <a:extLst>
              <a:ext uri="{FF2B5EF4-FFF2-40B4-BE49-F238E27FC236}">
                <a16:creationId xmlns:a16="http://schemas.microsoft.com/office/drawing/2014/main" id="{89885CE6-2A9A-A038-CA2F-72DC9B183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682" y="60255"/>
            <a:ext cx="3259018" cy="3259018"/>
          </a:xfrm>
        </p:spPr>
      </p:pic>
      <p:pic>
        <p:nvPicPr>
          <p:cNvPr id="18" name="Picture 17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8C4046FB-8022-2A97-7304-671FA4F3E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88" y="59722"/>
            <a:ext cx="3259018" cy="3259018"/>
          </a:xfrm>
          <a:prstGeom prst="rect">
            <a:avLst/>
          </a:prstGeom>
        </p:spPr>
      </p:pic>
      <p:pic>
        <p:nvPicPr>
          <p:cNvPr id="21" name="Picture 2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7A661621-B212-FD06-3972-A6781D4F7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683" y="3427070"/>
            <a:ext cx="3259018" cy="3259018"/>
          </a:xfrm>
          <a:prstGeom prst="rect">
            <a:avLst/>
          </a:prstGeom>
        </p:spPr>
      </p:pic>
      <p:pic>
        <p:nvPicPr>
          <p:cNvPr id="24" name="Picture 23" descr="A diagram of a graph&#10;&#10;Description automatically generated">
            <a:extLst>
              <a:ext uri="{FF2B5EF4-FFF2-40B4-BE49-F238E27FC236}">
                <a16:creationId xmlns:a16="http://schemas.microsoft.com/office/drawing/2014/main" id="{BD472268-AB6E-74F9-EE02-1A68C165B8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88" y="3427071"/>
            <a:ext cx="3259018" cy="32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70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9C179-9BE1-E18E-AD9F-D7A1EAD9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6DB54-B9AE-18B1-37D9-9E532E05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 dirty="0" err="1"/>
              <a:t>Eemeans</a:t>
            </a:r>
            <a:r>
              <a:rPr lang="en-US" sz="4200" dirty="0"/>
              <a:t> Relative Maturity/Location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030FD-FC60-D35F-DFE0-A884382B7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1" y="2909771"/>
            <a:ext cx="4751070" cy="3320668"/>
          </a:xfrm>
        </p:spPr>
        <p:txBody>
          <a:bodyPr>
            <a:normAutofit/>
          </a:bodyPr>
          <a:lstStyle/>
          <a:p>
            <a:r>
              <a:rPr lang="en-US" sz="2200" dirty="0"/>
              <a:t>model.a2.keiser &lt;- lmer(</a:t>
            </a:r>
            <a:r>
              <a:rPr lang="en-US" sz="2200" dirty="0" err="1"/>
              <a:t>Yield.bu.acre</a:t>
            </a:r>
            <a:r>
              <a:rPr lang="en-US" sz="2200" dirty="0"/>
              <a:t> ~ CRM + (1 | Hybrid) + (1 | Year), data = </a:t>
            </a:r>
            <a:r>
              <a:rPr lang="en-US" sz="2200" dirty="0" err="1"/>
              <a:t>data_clean.keiser</a:t>
            </a:r>
            <a:r>
              <a:rPr lang="en-US" sz="2200" dirty="0"/>
              <a:t>)</a:t>
            </a:r>
          </a:p>
        </p:txBody>
      </p:sp>
      <p:pic>
        <p:nvPicPr>
          <p:cNvPr id="12" name="Picture 11" descr="A graph of a graph with numbers and dots&#10;&#10;Description automatically generated with medium confidence">
            <a:extLst>
              <a:ext uri="{FF2B5EF4-FFF2-40B4-BE49-F238E27FC236}">
                <a16:creationId xmlns:a16="http://schemas.microsoft.com/office/drawing/2014/main" id="{FCA6F038-9BA0-2A8D-09B8-5B66DBB0B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680" y="52753"/>
            <a:ext cx="3137660" cy="3137660"/>
          </a:xfrm>
          <a:prstGeom prst="rect">
            <a:avLst/>
          </a:prstGeom>
        </p:spPr>
      </p:pic>
      <p:pic>
        <p:nvPicPr>
          <p:cNvPr id="16" name="Picture 1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DC910E17-FA58-6A10-8FA9-EB1C6FA57F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840" y="119429"/>
            <a:ext cx="3137660" cy="3137660"/>
          </a:xfrm>
          <a:prstGeom prst="rect">
            <a:avLst/>
          </a:prstGeom>
        </p:spPr>
      </p:pic>
      <p:pic>
        <p:nvPicPr>
          <p:cNvPr id="18" name="Picture 17" descr="A graph of a graph showing a curve&#10;&#10;Description automatically generated with medium confidence">
            <a:extLst>
              <a:ext uri="{FF2B5EF4-FFF2-40B4-BE49-F238E27FC236}">
                <a16:creationId xmlns:a16="http://schemas.microsoft.com/office/drawing/2014/main" id="{BB1750F6-F6EE-031B-9C16-BD74B60CF8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840" y="3488714"/>
            <a:ext cx="3137660" cy="3137660"/>
          </a:xfrm>
          <a:prstGeom prst="rect">
            <a:avLst/>
          </a:prstGeom>
        </p:spPr>
      </p:pic>
      <p:pic>
        <p:nvPicPr>
          <p:cNvPr id="21" name="Picture 20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BB14FE2F-AF50-0DBB-B6A3-723FCDD997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1" y="3488714"/>
            <a:ext cx="3137660" cy="31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C052EA-05E2-403D-965E-52D1BFFA2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D8C9F-2835-3E5A-378F-B30E94E3F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Challenges: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C1936B8-2FFB-4F78-8388-B8C282B8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92F43-90EF-06EC-5799-0AA04F328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0579"/>
            <a:ext cx="5097779" cy="40763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Which variables should be considered fixed and which as random and why. (hybrid and year were considered random as their specific effect on yields was not of interest)</a:t>
            </a:r>
          </a:p>
          <a:p>
            <a:r>
              <a:rPr lang="en-US" sz="2000" dirty="0"/>
              <a:t>Minimize multicollinearity: weather data and location are highly correlated</a:t>
            </a:r>
          </a:p>
          <a:p>
            <a:r>
              <a:rPr lang="en-US" sz="2000" dirty="0"/>
              <a:t>Variables that are positively correlated in some locations, may have a negative effect on yields in other.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FDD84-6BD8-C341-89EC-F851D66506C6}"/>
              </a:ext>
            </a:extLst>
          </p:cNvPr>
          <p:cNvSpPr txBox="1"/>
          <p:nvPr/>
        </p:nvSpPr>
        <p:spPr>
          <a:xfrm>
            <a:off x="6096000" y="2100579"/>
            <a:ext cx="5257800" cy="4076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Example=  Using lme4 package in R, function </a:t>
            </a:r>
            <a:r>
              <a:rPr lang="en-US" sz="2000" dirty="0" err="1"/>
              <a:t>lme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model_final</a:t>
            </a:r>
            <a:r>
              <a:rPr lang="en-US" sz="2000" dirty="0"/>
              <a:t> &lt;- lmer(</a:t>
            </a:r>
            <a:r>
              <a:rPr lang="en-US" sz="2000" dirty="0" err="1"/>
              <a:t>relative_yield</a:t>
            </a:r>
            <a:r>
              <a:rPr lang="en-US" sz="2000" dirty="0"/>
              <a:t> ~ CRM * </a:t>
            </a:r>
            <a:r>
              <a:rPr lang="en-US" sz="2000" dirty="0" err="1"/>
              <a:t>SowingdateDOY</a:t>
            </a:r>
            <a:r>
              <a:rPr lang="en-US" sz="2000" dirty="0"/>
              <a:t> + Location * </a:t>
            </a:r>
            <a:r>
              <a:rPr lang="en-US" sz="2000" dirty="0" err="1"/>
              <a:t>SowingdateDOY</a:t>
            </a:r>
            <a:r>
              <a:rPr lang="en-US" sz="2000" dirty="0"/>
              <a:t> +                       Year * </a:t>
            </a:r>
            <a:r>
              <a:rPr lang="en-US" sz="2000" dirty="0" err="1"/>
              <a:t>SowingdateDOY</a:t>
            </a:r>
            <a:r>
              <a:rPr lang="en-US" sz="2000" dirty="0"/>
              <a:t> + CRM * Location + </a:t>
            </a:r>
            <a:r>
              <a:rPr lang="en-US" sz="2000" dirty="0" err="1"/>
              <a:t>row_spacing</a:t>
            </a:r>
            <a:r>
              <a:rPr lang="en-US" sz="2000" dirty="0"/>
              <a:t> + (1 | Hybrid), data = data_clean1)</a:t>
            </a:r>
          </a:p>
        </p:txBody>
      </p:sp>
    </p:spTree>
    <p:extLst>
      <p:ext uri="{BB962C8B-B14F-4D97-AF65-F5344CB8AC3E}">
        <p14:creationId xmlns:p14="http://schemas.microsoft.com/office/powerpoint/2010/main" val="1335240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364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Mixed model effects</vt:lpstr>
      <vt:lpstr>Corn Database</vt:lpstr>
      <vt:lpstr>Objectives:</vt:lpstr>
      <vt:lpstr>Variables:</vt:lpstr>
      <vt:lpstr>Correlation matrix</vt:lpstr>
      <vt:lpstr>Eemeans function to better understand trends</vt:lpstr>
      <vt:lpstr>Eemeans Sowing date/Location</vt:lpstr>
      <vt:lpstr>Eemeans Relative Maturity/Location</vt:lpstr>
      <vt:lpstr>Challenges: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maximo nores allende</dc:creator>
  <cp:lastModifiedBy>Maximo Nores Allende</cp:lastModifiedBy>
  <cp:revision>13</cp:revision>
  <dcterms:created xsi:type="dcterms:W3CDTF">2025-01-02T19:17:10Z</dcterms:created>
  <dcterms:modified xsi:type="dcterms:W3CDTF">2025-02-05T20:12:00Z</dcterms:modified>
</cp:coreProperties>
</file>